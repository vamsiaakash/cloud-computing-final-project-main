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Traffic Accident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Prediction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2128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Big Data Pipeline using Apache Kafka &amp; Apache Spark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3200400" cy="45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ITCS 6190 — Cloud Computing for Data Analysis  |  Spring 2026  |  UNC Charlotte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1874520" cy="1234440"/>
          </a:xfrm>
          <a:prstGeom prst="rect">
            <a:avLst/>
          </a:prstGeom>
          <a:solidFill>
            <a:srgbClr val="1B2E45"/>
          </a:solidFill>
          <a:ln w="1905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401568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7.73M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04164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3337560"/>
            <a:ext cx="1874520" cy="1234440"/>
          </a:xfrm>
          <a:prstGeom prst="rect">
            <a:avLst/>
          </a:prstGeom>
          <a:solidFill>
            <a:srgbClr val="1B2E45"/>
          </a:solidFill>
          <a:ln w="1905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3401568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0320" y="404164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337560"/>
            <a:ext cx="1874520" cy="1234440"/>
          </a:xfrm>
          <a:prstGeom prst="rect">
            <a:avLst/>
          </a:prstGeom>
          <a:solidFill>
            <a:srgbClr val="1B2E45"/>
          </a:solidFill>
          <a:ln w="1905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3401568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404164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3337560"/>
            <a:ext cx="1874520" cy="1234440"/>
          </a:xfrm>
          <a:prstGeom prst="rect">
            <a:avLst/>
          </a:prstGeom>
          <a:solidFill>
            <a:srgbClr val="1B2E45"/>
          </a:solidFill>
          <a:ln w="1905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3401568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Yrs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66560" y="404164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ITCS 6190 — Cloud Computing for Data Analysis  |  Spring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5029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0" y="1261872"/>
            <a:ext cx="2743200" cy="45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138988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BD5E1"/>
                </a:solidFill>
              </a:rPr>
              <a:t>Real-Time Traffic Accident Severity Prediction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114800" cy="1143000"/>
          </a:xfrm>
          <a:prstGeom prst="rect">
            <a:avLst/>
          </a:prstGeom>
          <a:solidFill>
            <a:srgbClr val="1B2E45"/>
          </a:solidFill>
          <a:ln w="1905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2121408"/>
            <a:ext cx="685800" cy="68580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1214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53312" y="199339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Pranathi Thotli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53312" y="23774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</a:rPr>
              <a:t>Student ID: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23774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801425061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53312" y="26700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UNC Charlotte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920240"/>
            <a:ext cx="4114800" cy="1143000"/>
          </a:xfrm>
          <a:prstGeom prst="rect">
            <a:avLst/>
          </a:prstGeom>
          <a:solidFill>
            <a:srgbClr val="1B2E45"/>
          </a:solidFill>
          <a:ln w="1905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28032" y="2121408"/>
            <a:ext cx="685800" cy="68580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21214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50992" y="199339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Vamsi Aakash Samudrala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50992" y="23774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</a:rPr>
              <a:t>Student ID: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23774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801425922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50992" y="26700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UNC Charlotte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14600" y="3291840"/>
            <a:ext cx="4114800" cy="1143000"/>
          </a:xfrm>
          <a:prstGeom prst="rect">
            <a:avLst/>
          </a:prstGeom>
          <a:solidFill>
            <a:srgbClr val="1B2E45"/>
          </a:solidFill>
          <a:ln w="1905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679192" y="3493008"/>
            <a:ext cx="685800" cy="68580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9192" y="34930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502152" y="336499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Vaishnav Reddy Dandu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502152" y="3749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</a:rPr>
              <a:t>Student ID: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43400" y="37490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801411660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02152" y="40416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UNC Charlotte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0" y="4709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Team of 3  |  All members contribute to the full pipeline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traffic systems are entirely REACTIVE — by the time a warning reaches drivers, they are already stuck in congestion.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572768"/>
            <a:ext cx="42062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572768"/>
            <a:ext cx="64008" cy="1325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4592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956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Detection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25856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reported minutes after they occur. Following vehicles approach unaware, worsening congestion and increasing secondary accident risk.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42062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572768"/>
            <a:ext cx="64008" cy="1325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64592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1956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Severity Assessment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25856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instantly classifies whether an accident needs a minor response or a full emergency road closure. Done manually — slow and inconsistent.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063240"/>
            <a:ext cx="42062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063240"/>
            <a:ext cx="64008" cy="1325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3639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" y="34472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Pattern-Based Hotspot Intel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7490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centers cannot instantly query which roads are most dangerous under current weather and time conditions. Requires hours of manual analysis.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63240"/>
            <a:ext cx="42062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063240"/>
            <a:ext cx="64008" cy="1325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13639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00600" y="34472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Bottleneck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37490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records accumulating continuously. Traditional batch processing systems are far too slow for real-time decision making needs.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51560"/>
            <a:ext cx="411480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41148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 Accidents Dataset (2016–2023)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572768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276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File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627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US_Accidents_March23.csv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0299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Source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20299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Kaggle — Sobhan Moosavi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377440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3230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Total Rows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2432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7,728,394 records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834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Total Cols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46 columns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3182112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369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Coverage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236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49 US States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Time Period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91640" y="3639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Feb 2016 – March 2023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3986784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416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File Size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91640" y="4041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~3.2 GB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4439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Collection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91640" y="44439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Multiple real-time APIs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1051560"/>
            <a:ext cx="420624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051560"/>
            <a:ext cx="42062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051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46 Columns — 6 Attribute Groups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1609344"/>
            <a:ext cx="50292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60934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94960" y="160934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Identity &amp; Core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180136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ID, Source, Severity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2139696"/>
            <a:ext cx="502920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13969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94960" y="213969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Temporal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94960" y="233172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Start_Time, End_Time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2670048"/>
            <a:ext cx="502920" cy="40233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267004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394960" y="267004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Location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94960" y="286207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Lat, Lng, Street, City, County, State, Zipcode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00600" y="3200400"/>
            <a:ext cx="50292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20040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394960" y="320040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Weather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94960" y="339242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Temperature, Visibility, Wind Speed, Humidity, Precipitation...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00600" y="3730752"/>
            <a:ext cx="50292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373075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13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394960" y="373075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Road Features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394960" y="392277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Junction, Traffic_Signal, Crossing, Bump, Railway...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00600" y="4261104"/>
            <a:ext cx="50292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426110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394960" y="426110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Day / Night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394960" y="445312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Sunrise_Sunset, Civil_Twilight, Nautical_Twilight...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Levels — The Core Target Variable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241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E45"/>
                </a:solidFill>
              </a:rPr>
              <a:t>Severity = How badly the accident disrupted traffic flow  (NOT about injury level)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417320"/>
            <a:ext cx="2057400" cy="342900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417320"/>
            <a:ext cx="2057400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4173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01168" y="17830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Very Minor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" y="2212848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Two cars lightly tap and pull to the side immediately. Traffic barely notices. Road clears in minutes.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" y="315468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Duration: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50976" y="3154680"/>
            <a:ext cx="1216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2–5 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" y="34290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Response: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50976" y="3429000"/>
            <a:ext cx="1216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None needed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1168" y="4526280"/>
            <a:ext cx="205740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45262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Rarest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95728" y="1417320"/>
            <a:ext cx="2057400" cy="342900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395728" y="1417320"/>
            <a:ext cx="2057400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95728" y="14173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395728" y="17830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87168" y="2212848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Car breaks down in right lane. Small slowdown, police arrive, tow truck dispatched. Clears soon.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87168" y="315468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Duration: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45536" y="3154680"/>
            <a:ext cx="1216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10–30 min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87168" y="34290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Response: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45536" y="3429000"/>
            <a:ext cx="1216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Police + Tow Truck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95728" y="4526280"/>
            <a:ext cx="205740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95728" y="45262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MOST COMMON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90288" y="1417320"/>
            <a:ext cx="2057400" cy="342900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90288" y="1417320"/>
            <a:ext cx="2057400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0288" y="14173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590288" y="17830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Serious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81728" y="2212848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Truck hits car. Full lane blocked for extended period. Traffic backs up for miles. Detours begin.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81728" y="315468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Duration: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40096" y="3154680"/>
            <a:ext cx="1216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45min–2hr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81728" y="34290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Response: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40096" y="3429000"/>
            <a:ext cx="1216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Police + Ambulance + Tow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90288" y="4526280"/>
            <a:ext cx="2057400" cy="320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90288" y="45262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84848" y="1417320"/>
            <a:ext cx="2057400" cy="342900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84848" y="1417320"/>
            <a:ext cx="205740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84848" y="14173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6784848" y="17830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Severe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876288" y="2212848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Major pile-up. Highway completely closed for hours. Emergency helicopters. News coverage live.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76288" y="315468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Duration: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534656" y="3154680"/>
            <a:ext cx="1216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3–6+ hrs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76288" y="34290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Response: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534656" y="3429000"/>
            <a:ext cx="1216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Full Emergency Response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784848" y="4526280"/>
            <a:ext cx="205740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84848" y="45262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Only ~2.65%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Full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51560"/>
            <a:ext cx="2011680" cy="2011680"/>
          </a:xfrm>
          <a:prstGeom prst="rect">
            <a:avLst/>
          </a:prstGeom>
          <a:solidFill>
            <a:srgbClr val="1B2E45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2011680" cy="36576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 SOURCE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38328" y="148132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US_Accidents_March23.csv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188366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7.73M rows · 46 columns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228600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AWS S3 / Kaggle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40280" y="17830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722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41448" y="1051560"/>
            <a:ext cx="2011680" cy="2011680"/>
          </a:xfrm>
          <a:prstGeom prst="rect">
            <a:avLst/>
          </a:prstGeom>
          <a:solidFill>
            <a:srgbClr val="0369A1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41448" y="1051560"/>
            <a:ext cx="2011680" cy="36576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41448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KAFKA PRODUCER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51176" y="148132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TrafficDataGenerator.py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51176" y="188366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Row by row CSV reader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51176" y="228600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JSON to Kafka topic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53128" y="17830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722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54296" y="1051560"/>
            <a:ext cx="2011680" cy="2011680"/>
          </a:xfrm>
          <a:prstGeom prst="rect">
            <a:avLst/>
          </a:prstGeom>
          <a:solidFill>
            <a:srgbClr val="0284C7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54296" y="1051560"/>
            <a:ext cx="2011680" cy="36576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296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SPARK STREAMING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64024" y="148132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StructuredStreaming.py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64024" y="188366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5/15/60 min windows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64024" y="228600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10-min watermark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65976" y="17830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722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867144" y="1051560"/>
            <a:ext cx="2011680" cy="2011680"/>
          </a:xfrm>
          <a:prstGeom prst="rect">
            <a:avLst/>
          </a:prstGeom>
          <a:solidFill>
            <a:srgbClr val="6D28D9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67144" y="1051560"/>
            <a:ext cx="2011680" cy="36576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67144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OUTPUT SINK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76872" y="148132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Alerts Parquet files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76872" y="188366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Aggregates CSV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76872" y="228600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Partitioned by State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508760" y="3291840"/>
            <a:ext cx="2011680" cy="1600200"/>
          </a:xfrm>
          <a:prstGeom prst="rect">
            <a:avLst/>
          </a:prstGeom>
          <a:solidFill>
            <a:srgbClr val="E87722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508760" y="3291840"/>
            <a:ext cx="2011680" cy="347472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08760" y="3291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SPARK SQL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600200" y="37124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SparkSQL.py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00200" y="40782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Top 10 hotspot queries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600200" y="44439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Weather-severity analysis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21608" y="3291840"/>
            <a:ext cx="2011680" cy="1600200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721608" y="3291840"/>
            <a:ext cx="2011680" cy="347472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21608" y="3291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MLlib MODEL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813048" y="37124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RandomForestClassifier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13048" y="40782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12 features input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813048" y="44439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Severity 1–4 output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34456" y="3291840"/>
            <a:ext cx="2011680" cy="1600200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934456" y="3291840"/>
            <a:ext cx="2011680" cy="347472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34456" y="3291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EVALUATION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025896" y="37124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Accuracy + F1-Score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025896" y="40782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Confusion Matrix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025896" y="44439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Feature Importance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28600" y="4864608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87722"/>
                </a:solidFill>
              </a:rPr>
              <a:t>Spark processes Spark SQL queries and ML predictions simultaneously on the same stream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 — 5 Complex Queries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2E45"/>
                </a:solidFill>
              </a:rPr>
              <a:t>Exact queries from ComplexQueries.py — run on 7.73M records using Apache Spark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53949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71600"/>
            <a:ext cx="64008" cy="5943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426464"/>
            <a:ext cx="566928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42646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42646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Severity Heatmap: Hour vs Day of Week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69164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7722"/>
                </a:solidFill>
              </a:rPr>
              <a:t>Result: Sunday 6AM = highest avg severity (2.598)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057400"/>
            <a:ext cx="53949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057400"/>
            <a:ext cx="64008" cy="5943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112264"/>
            <a:ext cx="566928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11226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11226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Danger Score per State (Custom Formula)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37744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7722"/>
                </a:solidFill>
              </a:rPr>
              <a:t>Result: CA = 1.2494, OH = 1.1231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743200"/>
            <a:ext cx="53949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743200"/>
            <a:ext cx="64008" cy="5943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798064"/>
            <a:ext cx="566928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79806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279806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Weather Risk Index per Condition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06324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7722"/>
                </a:solidFill>
              </a:rPr>
              <a:t>Result: Partly Cloudy = 50.17% risk index (highest)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429000"/>
            <a:ext cx="53949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429000"/>
            <a:ext cx="64008" cy="5943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3483864"/>
            <a:ext cx="566928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48386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" y="348386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Junction + Time of Day Compound Risk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74904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7722"/>
                </a:solidFill>
              </a:rPr>
              <a:t>Result: Junction+No Signal = avg severity 2.60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4114800"/>
            <a:ext cx="53949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4114800"/>
            <a:ext cx="64008" cy="5943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4169664"/>
            <a:ext cx="566928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16966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05840" y="416966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Top 10 Most Dangerous Road Segments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" y="443484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7722"/>
                </a:solidFill>
              </a:rPr>
              <a:t>Result: I-405 N Los Angeles = 517 serious accidents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52160" y="1371600"/>
            <a:ext cx="3017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2926080" cy="333756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5852160" y="48280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ComplexQuery_output.png — Spark terminal results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Results — Random Forest + XGBoost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51560"/>
            <a:ext cx="416052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41605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 1 — Random Forest (Spark MLlib)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572768"/>
            <a:ext cx="416052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276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Dataset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91640" y="16276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100K sample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02082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Algorithm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91640" y="20208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RandomForestClassifier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359152"/>
            <a:ext cx="416052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1401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numTrees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91640" y="24140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50  |  maxDepth: 10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28072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Train/Test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91640" y="28072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80,201 / 19,799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3145536"/>
            <a:ext cx="416052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004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Accuracy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91640" y="3200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722"/>
                </a:solidFill>
              </a:rPr>
              <a:t>60.52%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35935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Weighted F1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691640" y="35935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7722"/>
                </a:solidFill>
              </a:rPr>
              <a:t>60.48%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3931920"/>
            <a:ext cx="416052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9867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Precision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91640" y="39867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60.43%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37997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Recall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91640" y="43799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60.52%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1051560"/>
            <a:ext cx="420624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051560"/>
            <a:ext cx="4206240" cy="457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051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 2 — XGBoost (Full 7.7M Dataset) ⭐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1572768"/>
            <a:ext cx="4206240" cy="39319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6276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Dataset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0" y="162763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7,728,394 records (full)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20208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Algorithm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0" y="202082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XGBClassifier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2359152"/>
            <a:ext cx="4206240" cy="39319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4140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n_estimators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17920" y="241401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300  |  max_depth: 8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00600" y="28072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Train/Test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17920" y="280720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6,381,047 / 1,276,210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63440" y="3145536"/>
            <a:ext cx="4206240" cy="39319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2004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Accuracy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17920" y="32004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722"/>
                </a:solidFill>
              </a:rPr>
              <a:t>81.87% ✅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00600" y="3593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S2 Precision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17920" y="35935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84%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63440" y="3931920"/>
            <a:ext cx="4206240" cy="39319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39867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S3 Precision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217920" y="398678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64%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800600" y="43799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Weighted F1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217920" y="437997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7722"/>
                </a:solidFill>
              </a:rPr>
              <a:t>79%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28600" y="4864608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XGBoost on full 7.7M dataset exceeds 80% accuracy requirement ✅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Training — Actual Terminal Output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51560"/>
            <a:ext cx="8686800" cy="3840480"/>
          </a:xfrm>
          <a:prstGeom prst="rect">
            <a:avLst/>
          </a:prstGeom>
          <a:solidFill>
            <a:srgbClr val="111827"/>
          </a:solidFill>
          <a:ln w="1905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491947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E87722"/>
                </a:solidFill>
              </a:rPr>
              <a:t>python3 retrain_xgb.py  —  7,728,394 records  —  ACCURACY: 81.87%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Overview &amp; EDA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24128"/>
            <a:ext cx="1645920" cy="32918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2412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🏠 Overview Page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024128"/>
            <a:ext cx="201168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2412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EDA &amp; Visualizations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417320"/>
            <a:ext cx="4206240" cy="3520440"/>
          </a:xfrm>
          <a:prstGeom prst="rect">
            <a:avLst/>
          </a:prstGeom>
          <a:solidFill>
            <a:srgbClr val="111827"/>
          </a:solidFill>
          <a:ln w="2540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63040"/>
            <a:ext cx="4114800" cy="3429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709160" y="1417320"/>
            <a:ext cx="4206240" cy="3520440"/>
          </a:xfrm>
          <a:prstGeom prst="rect">
            <a:avLst/>
          </a:prstGeom>
          <a:solidFill>
            <a:srgbClr val="111827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4114800" cy="3429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860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7.7M records · 81.87% accuracy · Pipeline Architecture · Severity Scale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70916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US Map · Hourly Trend · Weather Risk · States · Feature Correlation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SQL Analytics &amp; Kafka Simulator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24128"/>
            <a:ext cx="182880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241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🔍 SQL Analytics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024128"/>
            <a:ext cx="2103120" cy="32918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2412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⚡ Kafka Stream Simulator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417320"/>
            <a:ext cx="4206240" cy="3520440"/>
          </a:xfrm>
          <a:prstGeom prst="rect">
            <a:avLst/>
          </a:prstGeom>
          <a:solidFill>
            <a:srgbClr val="111827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63040"/>
            <a:ext cx="4114800" cy="3429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709160" y="1417320"/>
            <a:ext cx="4206240" cy="3520440"/>
          </a:xfrm>
          <a:prstGeom prst="rect">
            <a:avLst/>
          </a:prstGeom>
          <a:solidFill>
            <a:srgbClr val="111827"/>
          </a:solidFill>
          <a:ln w="2540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4114800" cy="3429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860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5 Complex Spark SQL Queries · Danger Score · Weather Risk · Road Segments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70916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90 records processed · 40 alerts · Live severity stream · Real-time chart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 &amp; ML Model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051560"/>
            <a:ext cx="5212080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0"/>
            <a:ext cx="512064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472744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722"/>
                </a:solidFill>
              </a:rPr>
              <a:t>🎯 Live Prediction — S2 Moderate predicted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23560" y="1051560"/>
            <a:ext cx="3337560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97280"/>
            <a:ext cx="3246120" cy="3566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3560" y="472744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🤖 ML Model — 81.87% XGBoost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82880" y="5001768"/>
            <a:ext cx="8778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Real-time inference: input 15 features → XGBoost predicts Severity in milliseconds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— How We Know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024128"/>
            <a:ext cx="2798064" cy="3776472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24128"/>
            <a:ext cx="2798064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24128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1536192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Definition: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1755648"/>
            <a:ext cx="26151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Out of all Severity predictions made, how many did the model get correct overall across all 4 classes.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2542032"/>
            <a:ext cx="2615184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615184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Why we use it: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" y="2834640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Quick overall performance snapshot. Easy to understand and communicate to non-technical stakeholders.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" y="3529584"/>
            <a:ext cx="2615184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3611880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Note: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" y="361188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Can be misleading — model always predicting Severity 2 still looks accurate due to class imbalance in dataset.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82112" y="1024128"/>
            <a:ext cx="2798064" cy="3776472"/>
          </a:xfrm>
          <a:prstGeom prst="rect">
            <a:avLst/>
          </a:prstGeom>
          <a:solidFill>
            <a:srgbClr val="FFF7ED"/>
          </a:solidFill>
          <a:ln w="1524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82112" y="1024128"/>
            <a:ext cx="2798064" cy="43891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73552" y="1024128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Weighted F1-Score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73552" y="1536192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</a:rPr>
              <a:t>Definition: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73552" y="1755648"/>
            <a:ext cx="26151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Balances Precision and Recall for each Severity class individually, then combines weighted by class frequency.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73552" y="2542032"/>
            <a:ext cx="2615184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2615184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</a:rPr>
              <a:t>Why we use it: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73552" y="2834640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Primary metric. Handles class imbalance — penalises ignoring rare Severity 4 events. Far more honest than accuracy.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73552" y="3529584"/>
            <a:ext cx="2615184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3611880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Note: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39312" y="361188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Severity 4 is only 2.65% of data. Plain accuracy would hide the model completely failing on this critical class.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63056" y="1024128"/>
            <a:ext cx="2798064" cy="3776472"/>
          </a:xfrm>
          <a:prstGeom prst="rect">
            <a:avLst/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63056" y="1024128"/>
            <a:ext cx="2798064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1024128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Confusion Matrix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54496" y="1536192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Definition: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54496" y="1755648"/>
            <a:ext cx="26151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Table showing how many predictions landed in each Severity class — correct and incorrect — across all combinations.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54496" y="2542032"/>
            <a:ext cx="2615184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2615184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Why we use it: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54496" y="2834640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Reveals exactly where the model makes mistakes. Shows if Severity 4 is ever misclassified as a lower severity.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54496" y="3529584"/>
            <a:ext cx="2615184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3611880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Note: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20256" y="361188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Missing a Severity 4 prediction means suppressing an emergency alert. Most critical failure mode to check.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Upgrades —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024128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24128"/>
            <a:ext cx="27432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241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— Live Weather API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1499616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Connect real-time weather to predict dangerous conditions BEFORE any accident is reported. True prevention over reaction.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82112" y="1024128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1024128"/>
            <a:ext cx="274320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10241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— Visual Map Dashboard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73552" y="1499616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Live color-coded US map — green, yellow, red severity zones. Updates every 15 minutes. Usable by non-technical traffic managers.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1024128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024128"/>
            <a:ext cx="2743200" cy="4114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0241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— SMS and Email Alerts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54496" y="1499616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Auto-send notifications when Severity 3 or 4 detected. Authorities warned instantly without manually checking output files.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" y="2926080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2926080"/>
            <a:ext cx="2743200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— State-Level Partitioning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" y="3401568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Separate Kafka topic per state. All 49 states processed in parallel. Eliminates bottlenecks during high-volume periods.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82112" y="2926080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82112" y="2926080"/>
            <a:ext cx="274320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 — Auto Model Retraining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73552" y="3401568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Monthly scheduled retraining on new accident data. Old vs new model compared. Better model auto-deployed without manual intervention.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63056" y="2926080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2926080"/>
            <a:ext cx="27432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 — Context Data Integration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54496" y="3401568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Add public events, road construction, school schedules. System understands game-day vs normal — same road, completely different risk.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743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0" y="1024128"/>
            <a:ext cx="2743200" cy="45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11430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7722"/>
                </a:solidFill>
              </a:rPr>
              <a:t>What We Built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big data pipeline streaming 7.73 million US accident records through Apache Kafka and Spark — detecting high-severity incidents, running live SQL hotspot analysis, and predicting Severity 1 through 4 using XGBoost (81.87% accuracy) trained on 15 weather, road, and time features — all within 15-minute windows.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395728"/>
            <a:ext cx="1874520" cy="1417320"/>
          </a:xfrm>
          <a:prstGeom prst="rect">
            <a:avLst/>
          </a:prstGeom>
          <a:solidFill>
            <a:srgbClr val="1B2E45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395728"/>
            <a:ext cx="1874520" cy="347472"/>
          </a:xfrm>
          <a:prstGeom prst="rect">
            <a:avLst/>
          </a:prstGeom>
          <a:solidFill>
            <a:srgbClr val="243B55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9572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Problem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Reactive systems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warn drivers too late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87752" y="2395728"/>
            <a:ext cx="1874520" cy="1417320"/>
          </a:xfrm>
          <a:prstGeom prst="rect">
            <a:avLst/>
          </a:prstGeom>
          <a:solidFill>
            <a:srgbClr val="1B2E45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87752" y="2395728"/>
            <a:ext cx="1874520" cy="347472"/>
          </a:xfrm>
          <a:prstGeom prst="rect">
            <a:avLst/>
          </a:prstGeom>
          <a:solidFill>
            <a:srgbClr val="243B55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7752" y="239572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Solution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79192" y="278892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Real-time streaming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+ ML severity prediction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72584" y="2395728"/>
            <a:ext cx="1874520" cy="1417320"/>
          </a:xfrm>
          <a:prstGeom prst="rect">
            <a:avLst/>
          </a:prstGeom>
          <a:solidFill>
            <a:srgbClr val="1B2E45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72584" y="2395728"/>
            <a:ext cx="1874520" cy="347472"/>
          </a:xfrm>
          <a:prstGeom prst="rect">
            <a:avLst/>
          </a:prstGeom>
          <a:solidFill>
            <a:srgbClr val="243B55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239572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Dataset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64024" y="278892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7.73M records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46 cols · 49 States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57416" y="2395728"/>
            <a:ext cx="1874520" cy="1417320"/>
          </a:xfrm>
          <a:prstGeom prst="rect">
            <a:avLst/>
          </a:prstGeom>
          <a:solidFill>
            <a:srgbClr val="1B2E45"/>
          </a:solidFill>
          <a:ln w="1905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57416" y="2395728"/>
            <a:ext cx="1874520" cy="347472"/>
          </a:xfrm>
          <a:prstGeom prst="rect">
            <a:avLst/>
          </a:prstGeom>
          <a:solidFill>
            <a:srgbClr val="243B55"/>
          </a:solidFill>
          <a:ln w="19050">
            <a:solidFill>
              <a:srgbClr val="E877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57416" y="239572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722"/>
                </a:solidFill>
              </a:rPr>
              <a:t>Model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48856" y="278892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XGBoost 81.87%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+ RF Spark 60.52%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4320" y="404164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87722"/>
                </a:solidFill>
              </a:rPr>
              <a:t>This project shifts traffic accident management from reactive response to proactive intelligence.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4622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ITCS 6190 — Cloud Computing for Data Analysis  |  Spring 2026  |  UNC Charlotte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Traffic Accident Severity Prediction</dc:title>
  <dc:subject>PptxGenJS Presentation</dc:subject>
  <dc:creator>PptxGenJS</dc:creator>
  <cp:lastModifiedBy>PptxGenJS</cp:lastModifiedBy>
  <cp:revision>1</cp:revision>
  <dcterms:created xsi:type="dcterms:W3CDTF">2026-04-21T04:47:19Z</dcterms:created>
  <dcterms:modified xsi:type="dcterms:W3CDTF">2026-04-21T04:47:19Z</dcterms:modified>
</cp:coreProperties>
</file>